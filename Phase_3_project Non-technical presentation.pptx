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40" r:id="rId5"/>
    <p:sldId id="341" r:id="rId6"/>
    <p:sldId id="342" r:id="rId7"/>
    <p:sldId id="343" r:id="rId8"/>
    <p:sldId id="357" r:id="rId9"/>
    <p:sldId id="344" r:id="rId10"/>
    <p:sldId id="363" r:id="rId11"/>
    <p:sldId id="365" r:id="rId12"/>
    <p:sldId id="366" r:id="rId13"/>
    <p:sldId id="367" r:id="rId14"/>
    <p:sldId id="356" r:id="rId15"/>
    <p:sldId id="364" r:id="rId16"/>
    <p:sldId id="353" r:id="rId17"/>
    <p:sldId id="360" r:id="rId18"/>
    <p:sldId id="368" r:id="rId19"/>
    <p:sldId id="369" r:id="rId20"/>
    <p:sldId id="35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 autoAdjust="0"/>
  </p:normalViewPr>
  <p:slideViewPr>
    <p:cSldViewPr snapToGrid="0">
      <p:cViewPr varScale="1">
        <p:scale>
          <a:sx n="62" d="100"/>
          <a:sy n="62" d="100"/>
        </p:scale>
        <p:origin x="978" y="84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5/6/2026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48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B1401-D23F-9A90-7C4D-4532CE3F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29E3A-F8FC-C871-D54D-DCFF738EF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66567-6943-6A57-7C84-3859F74A9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A116F-9E5C-231F-C71B-C5EBDFF18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928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157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AE2FC-8463-9CA4-3442-D05BFCF9A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60257-8DA3-F68D-DBAF-AA7167238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89018-E664-E626-8748-4F72E7C15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C0C08-F74D-B7CD-4E87-0B4591505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105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453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becksddf/churn-in-telecoms-dataset?resource=downloa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024" y="2541721"/>
            <a:ext cx="10571998" cy="3022851"/>
          </a:xfrm>
        </p:spPr>
        <p:txBody>
          <a:bodyPr/>
          <a:lstStyle/>
          <a:p>
            <a:r>
              <a:rPr lang="en-US" dirty="0"/>
              <a:t># Phase-3-Project-Machine-Learning</a:t>
            </a:r>
            <a:br>
              <a:rPr lang="en-US" b="0" dirty="0"/>
            </a:br>
            <a:br>
              <a:rPr lang="en-US" b="0" dirty="0"/>
            </a:br>
            <a:br>
              <a:rPr lang="en-US" b="0" dirty="0"/>
            </a:br>
            <a:r>
              <a:rPr lang="en-US" sz="6000" dirty="0"/>
              <a:t>Analysis of Churn in Telecom's dataset</a:t>
            </a:r>
            <a:br>
              <a:rPr lang="en-US" b="0" dirty="0"/>
            </a:br>
            <a:br>
              <a:rPr lang="en-US" b="0" dirty="0"/>
            </a:br>
            <a:r>
              <a:rPr lang="en-US" sz="3200" dirty="0"/>
              <a:t>Phase 3 Project</a:t>
            </a:r>
            <a:br>
              <a:rPr lang="en-US" sz="3200" dirty="0"/>
            </a:br>
            <a:r>
              <a:rPr lang="en-US" sz="3200" dirty="0"/>
              <a:t>Eliud Kibet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7740-ED88-9F6A-89FF-4B0DFAAC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924167"/>
            <a:ext cx="4383156" cy="5009322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5282-EE8D-71BA-6317-EECFE3323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924512"/>
            <a:ext cx="5055704" cy="5008977"/>
          </a:xfrm>
        </p:spPr>
        <p:txBody>
          <a:bodyPr>
            <a:normAutofit/>
          </a:bodyPr>
          <a:lstStyle/>
          <a:p>
            <a:pPr lvl="1"/>
            <a:r>
              <a:rPr lang="en-US" sz="2000" dirty="0"/>
              <a:t>Overview</a:t>
            </a:r>
          </a:p>
          <a:p>
            <a:pPr lvl="1"/>
            <a:r>
              <a:rPr lang="en-US" sz="2000" dirty="0"/>
              <a:t>Business and Data Understanding</a:t>
            </a:r>
          </a:p>
          <a:p>
            <a:pPr lvl="1"/>
            <a:r>
              <a:rPr lang="en-US" sz="2000" dirty="0"/>
              <a:t>Modeling</a:t>
            </a:r>
          </a:p>
          <a:p>
            <a:pPr lvl="1"/>
            <a:r>
              <a:rPr lang="en-US" sz="2000" dirty="0"/>
              <a:t>Evaluation</a:t>
            </a:r>
          </a:p>
          <a:p>
            <a:pPr lvl="1"/>
            <a:r>
              <a:rPr lang="en-US" sz="2000" dirty="0"/>
              <a:t>Recommendations</a:t>
            </a:r>
          </a:p>
          <a:p>
            <a:pPr lvl="1"/>
            <a:r>
              <a:rPr lang="en-US" sz="2000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90992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741064"/>
            <a:ext cx="10571998" cy="1928264"/>
          </a:xfrm>
        </p:spPr>
        <p:txBody>
          <a:bodyPr/>
          <a:lstStyle/>
          <a:p>
            <a:pPr lvl="0"/>
            <a:r>
              <a:rPr lang="en-US" dirty="0"/>
              <a:t>Introduction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3694102"/>
            <a:ext cx="10572000" cy="896468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6AA5-9DDA-DA9A-5469-6885A5A84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827485" cy="5009322"/>
          </a:xfrm>
        </p:spPr>
        <p:txBody>
          <a:bodyPr/>
          <a:lstStyle/>
          <a:p>
            <a:r>
              <a:rPr lang="en-US" dirty="0"/>
              <a:t>This project analyzes customer data from a select Telecom company to predict which customers are likely to leave the company (churn). </a:t>
            </a:r>
          </a:p>
          <a:p>
            <a:r>
              <a:rPr lang="en-US" dirty="0"/>
              <a:t>Data source: </a:t>
            </a:r>
            <a:r>
              <a:rPr lang="en-US" dirty="0">
                <a:hlinkClick r:id="rId3"/>
              </a:rPr>
              <a:t>https://www.kaggle.com/datasets/becksddf/churn-in-telecoms-dataset?resource=download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Project objective</a:t>
            </a:r>
          </a:p>
          <a:p>
            <a:r>
              <a:rPr lang="en-US" dirty="0"/>
              <a:t>This project will help the company identify customers at risk of leaving and take action to keep them</a:t>
            </a:r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5E82-0070-6F5D-DDD4-2E5BA32F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532DA-6DB3-2F5C-CD85-75A68E193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Business and 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59E56-66A2-15C5-5137-DF060F07894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08988" y="629871"/>
            <a:ext cx="6832295" cy="553845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Telecom companies lose revenue whenever their customers cancel service and this project will this help the stakeholders to undertake the following three aspects: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a) Understand why customers leave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b) Predict which customers will  leave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c) Find ways to reduce customer loss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sz="1600" b="1" dirty="0"/>
              <a:t>Data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The dataset contains information about 3,333 customers where each row represents one customer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b="1" dirty="0"/>
              <a:t>Key columns include: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/>
              <a:t>- `state`, `area code`, `phone number`, `account length`, `international plan`, `voice mail plan`, `customer service calls` and `churn`</a:t>
            </a:r>
          </a:p>
        </p:txBody>
      </p:sp>
    </p:spTree>
    <p:extLst>
      <p:ext uri="{BB962C8B-B14F-4D97-AF65-F5344CB8AC3E}">
        <p14:creationId xmlns:p14="http://schemas.microsoft.com/office/powerpoint/2010/main" val="177078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ECA8A6-26C7-FE2F-5884-A9A56520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516" y="1433219"/>
            <a:ext cx="5695102" cy="2092049"/>
          </a:xfrm>
        </p:spPr>
        <p:txBody>
          <a:bodyPr/>
          <a:lstStyle/>
          <a:p>
            <a:r>
              <a:rPr lang="en-US" sz="4400" dirty="0"/>
              <a:t>Methodology and output</a:t>
            </a:r>
          </a:p>
        </p:txBody>
      </p:sp>
      <p:pic>
        <p:nvPicPr>
          <p:cNvPr id="8" name="Picture Placeholder 7" descr="A green circle with a curled corner">
            <a:extLst>
              <a:ext uri="{FF2B5EF4-FFF2-40B4-BE49-F238E27FC236}">
                <a16:creationId xmlns:a16="http://schemas.microsoft.com/office/drawing/2014/main" id="{8CCCEC06-31A4-216C-78F1-DF37E7A7CC3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50099" y="1974707"/>
            <a:ext cx="2907792" cy="2907792"/>
          </a:xfrm>
        </p:spPr>
      </p:pic>
    </p:spTree>
    <p:extLst>
      <p:ext uri="{BB962C8B-B14F-4D97-AF65-F5344CB8AC3E}">
        <p14:creationId xmlns:p14="http://schemas.microsoft.com/office/powerpoint/2010/main" val="393748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93107-5CB1-2451-E9CB-32CEFF07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538F-208E-B017-6A65-1B2FE1CB8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FCB16-1F2E-81D1-1C73-4C26DE7D720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08988" y="629871"/>
            <a:ext cx="6832295" cy="5538453"/>
          </a:xfrm>
        </p:spPr>
        <p:txBody>
          <a:bodyPr>
            <a:noAutofit/>
          </a:bodyPr>
          <a:lstStyle/>
          <a:p>
            <a:r>
              <a:rPr lang="en-US" dirty="0"/>
              <a:t>1. Exploratory Data Analysis (EDA) to Understand patterns in the data</a:t>
            </a:r>
          </a:p>
          <a:p>
            <a:r>
              <a:rPr lang="en-US" dirty="0"/>
              <a:t>2. There was no data cleaning done since there were no missing values. However at the point of model creation we dropped some columns to retain the most relevant features.</a:t>
            </a:r>
          </a:p>
          <a:p>
            <a:r>
              <a:rPr lang="en-US" dirty="0"/>
              <a:t>4. Modeling: tried two different machine learning models (a- Logistic regression and 2) Decision Tree to predict churn</a:t>
            </a:r>
          </a:p>
          <a:p>
            <a:r>
              <a:rPr lang="en-US" dirty="0"/>
              <a:t>5. Evaluation: Used metrics like Accuracy, Recall, Precision and F1-score</a:t>
            </a:r>
          </a:p>
          <a:p>
            <a:r>
              <a:rPr lang="en-US" dirty="0"/>
              <a:t>6. Recommendations: Based on model insights</a:t>
            </a:r>
            <a:r>
              <a:rPr lang="en-US" sz="1600" dirty="0"/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119094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2DEB37-12B4-13B8-8639-389FF42E1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96" y="1190625"/>
            <a:ext cx="9620250" cy="447675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D20D037-8E02-6AA5-CDBE-339147828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85800"/>
            <a:ext cx="10571998" cy="476573"/>
          </a:xfrm>
        </p:spPr>
        <p:txBody>
          <a:bodyPr/>
          <a:lstStyle/>
          <a:p>
            <a:r>
              <a:rPr lang="en-US" dirty="0"/>
              <a:t>EDA output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48188B-6A70-6241-31C2-E452F65BDE8E}"/>
              </a:ext>
            </a:extLst>
          </p:cNvPr>
          <p:cNvSpPr txBox="1"/>
          <p:nvPr/>
        </p:nvSpPr>
        <p:spPr>
          <a:xfrm>
            <a:off x="1099896" y="5710535"/>
            <a:ext cx="9934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Observation:</a:t>
            </a:r>
            <a:r>
              <a:rPr lang="en-US" dirty="0"/>
              <a:t> Customers who have an international plan are more likely to churn compared to those who don not.</a:t>
            </a:r>
          </a:p>
        </p:txBody>
      </p:sp>
    </p:spTree>
    <p:extLst>
      <p:ext uri="{BB962C8B-B14F-4D97-AF65-F5344CB8AC3E}">
        <p14:creationId xmlns:p14="http://schemas.microsoft.com/office/powerpoint/2010/main" val="2341983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93FA-2992-B927-6FB7-3EF55A9E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800A59-E70D-C0EB-26AD-030271DD8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359" y="1180171"/>
            <a:ext cx="9236037" cy="4530364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18FF375A-114B-1252-2799-1D7B7B82C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85800"/>
            <a:ext cx="10571998" cy="476573"/>
          </a:xfrm>
        </p:spPr>
        <p:txBody>
          <a:bodyPr/>
          <a:lstStyle/>
          <a:p>
            <a:r>
              <a:rPr lang="en-US" dirty="0"/>
              <a:t>EDA output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EF923-9125-3017-8FE2-6382D2C4407C}"/>
              </a:ext>
            </a:extLst>
          </p:cNvPr>
          <p:cNvSpPr txBox="1"/>
          <p:nvPr/>
        </p:nvSpPr>
        <p:spPr>
          <a:xfrm>
            <a:off x="1099896" y="5710535"/>
            <a:ext cx="9934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Observation:</a:t>
            </a:r>
            <a:r>
              <a:rPr lang="en-US" dirty="0"/>
              <a:t> Customers with a high number of customer service calls have a much higher chance of churning. </a:t>
            </a:r>
          </a:p>
        </p:txBody>
      </p:sp>
    </p:spTree>
    <p:extLst>
      <p:ext uri="{BB962C8B-B14F-4D97-AF65-F5344CB8AC3E}">
        <p14:creationId xmlns:p14="http://schemas.microsoft.com/office/powerpoint/2010/main" val="2069719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3368C-E1A1-00A4-5A6C-23FD2F8FE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1DD6C7-0187-4093-724D-D6210EFA2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420" y="774300"/>
            <a:ext cx="6938156" cy="5582566"/>
          </a:xfrm>
          <a:prstGeom prst="rect">
            <a:avLst/>
          </a:prstGeom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38620955-3771-B53B-F252-6E909963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8" y="314567"/>
            <a:ext cx="10571998" cy="476573"/>
          </a:xfrm>
        </p:spPr>
        <p:txBody>
          <a:bodyPr/>
          <a:lstStyle/>
          <a:p>
            <a:r>
              <a:rPr lang="en-US" dirty="0"/>
              <a:t>EDA output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41094-A631-03E9-ECBA-699409CBEB0C}"/>
              </a:ext>
            </a:extLst>
          </p:cNvPr>
          <p:cNvSpPr txBox="1"/>
          <p:nvPr/>
        </p:nvSpPr>
        <p:spPr>
          <a:xfrm>
            <a:off x="8741044" y="4325541"/>
            <a:ext cx="30836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Observation:</a:t>
            </a:r>
            <a:r>
              <a:rPr lang="en-US" dirty="0"/>
              <a:t> Customers with higher day charges show different churn behavior, suggesting that heavy daytime users may be more sensitive to pricing. </a:t>
            </a:r>
          </a:p>
        </p:txBody>
      </p:sp>
    </p:spTree>
    <p:extLst>
      <p:ext uri="{BB962C8B-B14F-4D97-AF65-F5344CB8AC3E}">
        <p14:creationId xmlns:p14="http://schemas.microsoft.com/office/powerpoint/2010/main" val="4080800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852B57-FBCD-0A07-C0BD-106ED2D6E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2" y="844596"/>
            <a:ext cx="10571998" cy="645675"/>
          </a:xfrm>
        </p:spPr>
        <p:txBody>
          <a:bodyPr/>
          <a:lstStyle/>
          <a:p>
            <a:r>
              <a:rPr lang="en-US" dirty="0"/>
              <a:t>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8A2F2-9DA4-3578-E440-3E3E49F92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1914616"/>
            <a:ext cx="4435696" cy="645675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Model 1: Logistic Regression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CAA8C2-D7E4-DD43-1438-D08D79F52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00" y="2733845"/>
            <a:ext cx="4435696" cy="2969531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BB0D94FA-AAF6-109D-3C14-20F974DE4F6C}"/>
              </a:ext>
            </a:extLst>
          </p:cNvPr>
          <p:cNvSpPr txBox="1">
            <a:spLocks/>
          </p:cNvSpPr>
          <p:nvPr/>
        </p:nvSpPr>
        <p:spPr>
          <a:xfrm>
            <a:off x="6665777" y="1914616"/>
            <a:ext cx="4435696" cy="645675"/>
          </a:xfrm>
          <a:prstGeom prst="rect">
            <a:avLst/>
          </a:prstGeom>
          <a:solidFill>
            <a:srgbClr val="00B050"/>
          </a:solidFill>
          <a:effectLst/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Model 2: Decision Tree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9FE222-A61F-2291-660E-C436B38D4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777" y="2733845"/>
            <a:ext cx="4410075" cy="283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76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B974-AE91-8981-4D18-BDFCC45E7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422DA7-8B0F-97DB-4626-D5936790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F1EE42-5F3E-976C-5A2A-2784AF034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164783"/>
              </p:ext>
            </p:extLst>
          </p:nvPr>
        </p:nvGraphicFramePr>
        <p:xfrm>
          <a:off x="1036664" y="2027651"/>
          <a:ext cx="10118672" cy="3881853"/>
        </p:xfrm>
        <a:graphic>
          <a:graphicData uri="http://schemas.openxmlformats.org/drawingml/2006/table">
            <a:tbl>
              <a:tblPr firstRow="1" bandRow="1">
                <a:tableStyleId>{E929F9F4-4A8F-4326-A1B4-22849713DDAB}</a:tableStyleId>
              </a:tblPr>
              <a:tblGrid>
                <a:gridCol w="5059336">
                  <a:extLst>
                    <a:ext uri="{9D8B030D-6E8A-4147-A177-3AD203B41FA5}">
                      <a16:colId xmlns:a16="http://schemas.microsoft.com/office/drawing/2014/main" val="3185227852"/>
                    </a:ext>
                  </a:extLst>
                </a:gridCol>
                <a:gridCol w="5059336">
                  <a:extLst>
                    <a:ext uri="{9D8B030D-6E8A-4147-A177-3AD203B41FA5}">
                      <a16:colId xmlns:a16="http://schemas.microsoft.com/office/drawing/2014/main" val="2263769661"/>
                    </a:ext>
                  </a:extLst>
                </a:gridCol>
              </a:tblGrid>
              <a:tr h="498573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260690"/>
                  </a:ext>
                </a:extLst>
              </a:tr>
              <a:tr h="2778841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 Accuracy (86%)</a:t>
                      </a:r>
                      <a:b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 For customers who will Stay (0): The model is very reliable when it says someone will stay.</a:t>
                      </a:r>
                    </a:p>
                    <a:p>
                      <a:b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 For customers who will Churn (1): When the model predicts a customer will leave, it is correct 63% of the time (about 6 out of 10).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 Accuracy of 91%. </a:t>
                      </a:r>
                    </a:p>
                    <a:p>
                      <a:b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 For customers who will Stay (class 0)- </a:t>
                      </a:r>
                      <a:r>
                        <a:rPr 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pthe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precision of 95% and  F-1 score of 95%. Recall was (94%)</a:t>
                      </a:r>
                    </a:p>
                    <a:p>
                      <a:b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 For customers who will churn (class 1) - the precision is 70% and F‑1 score of 72%. Recall was 74%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38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8791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EF70-82D5-7640-21AD-BEAC8FBD4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42" y="132080"/>
            <a:ext cx="4928894" cy="6507711"/>
          </a:xfrm>
        </p:spPr>
        <p:txBody>
          <a:bodyPr/>
          <a:lstStyle/>
          <a:p>
            <a:pPr lvl="0"/>
            <a:r>
              <a:rPr lang="en-US" dirty="0"/>
              <a:t>Conclusions, Recommendations &amp; next steps</a:t>
            </a:r>
            <a:endParaRPr lang="en-US" noProof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1C915CE-EC91-4DEE-9C0D-2A94031D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" r="101"/>
          <a:stretch/>
        </p:blipFill>
        <p:spPr>
          <a:xfrm>
            <a:off x="7429500" y="992188"/>
            <a:ext cx="3425825" cy="5018087"/>
          </a:xfrm>
        </p:spPr>
      </p:pic>
    </p:spTree>
    <p:extLst>
      <p:ext uri="{BB962C8B-B14F-4D97-AF65-F5344CB8AC3E}">
        <p14:creationId xmlns:p14="http://schemas.microsoft.com/office/powerpoint/2010/main" val="3802808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00879-3563-3AC8-9075-D162C3B67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016179-ADF0-01C0-34CA-83CD33A5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03067B-1984-5084-FB65-94C8FAB59EB8}"/>
              </a:ext>
            </a:extLst>
          </p:cNvPr>
          <p:cNvSpPr txBox="1"/>
          <p:nvPr/>
        </p:nvSpPr>
        <p:spPr>
          <a:xfrm>
            <a:off x="1596325" y="2262753"/>
            <a:ext cx="87410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analysis shows that the most important factors driving churn are: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1. Number of customer service calls</a:t>
            </a:r>
          </a:p>
          <a:p>
            <a:r>
              <a:rPr lang="en-US" sz="2400" dirty="0"/>
              <a:t>2. International plan usage</a:t>
            </a:r>
          </a:p>
          <a:p>
            <a:r>
              <a:rPr lang="en-US" sz="2400" dirty="0"/>
              <a:t>3. Total day/evening charges</a:t>
            </a:r>
          </a:p>
        </p:txBody>
      </p:sp>
    </p:spTree>
    <p:extLst>
      <p:ext uri="{BB962C8B-B14F-4D97-AF65-F5344CB8AC3E}">
        <p14:creationId xmlns:p14="http://schemas.microsoft.com/office/powerpoint/2010/main" val="3102783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29414-2C0D-0CED-5163-B95813342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B9D12F-FBFD-804D-404B-0CE78035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485C7D-26CF-9DDD-9805-F98E9EFC68D8}"/>
              </a:ext>
            </a:extLst>
          </p:cNvPr>
          <p:cNvSpPr txBox="1"/>
          <p:nvPr/>
        </p:nvSpPr>
        <p:spPr>
          <a:xfrm>
            <a:off x="1596325" y="2262753"/>
            <a:ext cx="94074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Based on the results from the models, the project recommends as follows:</a:t>
            </a:r>
          </a:p>
          <a:p>
            <a:endParaRPr lang="en-US" sz="2000" dirty="0"/>
          </a:p>
          <a:p>
            <a:r>
              <a:rPr lang="en-US" sz="2000" dirty="0"/>
              <a:t>- Improve customer service to reduce complaints</a:t>
            </a:r>
          </a:p>
          <a:p>
            <a:r>
              <a:rPr lang="en-US" sz="2000" dirty="0"/>
              <a:t>- Offer special discounts or better international rates to at-risk customers</a:t>
            </a:r>
          </a:p>
          <a:p>
            <a:r>
              <a:rPr lang="en-US" sz="2000" dirty="0"/>
              <a:t>- Target customers with high usage but low satisfaction</a:t>
            </a:r>
          </a:p>
          <a:p>
            <a:r>
              <a:rPr lang="en-US" sz="2000" dirty="0"/>
              <a:t>- Focus retention efforts on newer customers (low account length)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79820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ABC92-D207-0BB6-4549-EA766B380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9ADA83-1367-6358-59E6-9B3EC6955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9FB2C4-F02C-3CEE-D784-715FE2FDD6A8}"/>
              </a:ext>
            </a:extLst>
          </p:cNvPr>
          <p:cNvSpPr txBox="1"/>
          <p:nvPr/>
        </p:nvSpPr>
        <p:spPr>
          <a:xfrm>
            <a:off x="1501398" y="2665709"/>
            <a:ext cx="911300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There is need for collection of  more recent data given the changes that has happened in the sector since this sample data was collected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There is need to include additional features such as complaints to the model to determine their influence on the model prediction</a:t>
            </a:r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Tx/>
              <a:buChar char="-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Consider running A/B test retention offers for predicted churners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672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noProof="0" dirty="0"/>
              <a:t>Eliud Kibet</a:t>
            </a:r>
          </a:p>
          <a:p>
            <a:pPr lvl="0"/>
            <a:r>
              <a:rPr lang="en-US" dirty="0" err="1"/>
              <a:t>Github</a:t>
            </a:r>
            <a:r>
              <a:rPr lang="en-US" dirty="0"/>
              <a:t>: Elky-</a:t>
            </a:r>
            <a:r>
              <a:rPr lang="en-US" dirty="0" err="1"/>
              <a:t>bett</a:t>
            </a:r>
            <a:endParaRPr lang="en-US" dirty="0"/>
          </a:p>
          <a:p>
            <a:pPr fontAlgn="base"/>
            <a:r>
              <a:rPr lang="en-US" dirty="0"/>
              <a:t>LinkedIn: </a:t>
            </a:r>
            <a:r>
              <a:rPr lang="en-US" dirty="0" err="1"/>
              <a:t>elkybett</a:t>
            </a:r>
            <a:endParaRPr lang="en-US" noProof="0" dirty="0"/>
          </a:p>
          <a:p>
            <a:pPr lvl="0"/>
            <a:r>
              <a:rPr lang="en-US" dirty="0"/>
              <a:t>Email: ekybett@gmail.com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Quotable design</Template>
  <TotalTime>97</TotalTime>
  <Words>679</Words>
  <Application>Microsoft Office PowerPoint</Application>
  <PresentationFormat>Widescreen</PresentationFormat>
  <Paragraphs>89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Century Gothic</vt:lpstr>
      <vt:lpstr>Wingdings 2</vt:lpstr>
      <vt:lpstr>Quotable</vt:lpstr>
      <vt:lpstr># Phase-3-Project-Machine-Learning   Analysis of Churn in Telecom's dataset  Phase 3 Project Eliud Kibet</vt:lpstr>
      <vt:lpstr>Agenda</vt:lpstr>
      <vt:lpstr>Introduction</vt:lpstr>
      <vt:lpstr>Overview</vt:lpstr>
      <vt:lpstr>Business and Data Understanding</vt:lpstr>
      <vt:lpstr>Methodology and output</vt:lpstr>
      <vt:lpstr>Methodology</vt:lpstr>
      <vt:lpstr>EDA output 1</vt:lpstr>
      <vt:lpstr>EDA output 2</vt:lpstr>
      <vt:lpstr>EDA output 3</vt:lpstr>
      <vt:lpstr>Modeling</vt:lpstr>
      <vt:lpstr>Evaluation</vt:lpstr>
      <vt:lpstr>Conclusions, Recommendations &amp; next steps</vt:lpstr>
      <vt:lpstr>Conclusion</vt:lpstr>
      <vt:lpstr>Recommendations</vt:lpstr>
      <vt:lpstr>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Eliud Kibet</dc:creator>
  <cp:lastModifiedBy>Eliud Kibet</cp:lastModifiedBy>
  <cp:revision>12</cp:revision>
  <dcterms:created xsi:type="dcterms:W3CDTF">2026-05-05T18:40:52Z</dcterms:created>
  <dcterms:modified xsi:type="dcterms:W3CDTF">2026-05-06T08:39:50Z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